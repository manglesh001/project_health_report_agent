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none">
            <a:spAutoFit/>
          </a:bodyPr>
          <a:lstStyle/>
          <a:p>
            <a:pPr algn="l">
              <a:defRPr sz="3600" b="1">
                <a:solidFill>
                  <a:srgbClr val="FFFFFF"/>
                </a:solidFill>
              </a:defRPr>
            </a:pPr>
            <a:r>
              <a:t>Monthly Project Health Report</a:t>
            </a:r>
          </a:p>
          <a:p>
            <a:pPr algn="l">
              <a:defRPr sz="1800">
                <a:solidFill>
                  <a:srgbClr val="ECF0F1"/>
                </a:solidFill>
              </a:defRPr>
            </a:pPr>
            <a:r>
              <a:t>July 2026 | 2 Active Projects</a:t>
            </a:r>
          </a:p>
          <a:p>
            <a:br/>
            <a:pPr algn="l">
              <a:defRPr sz="2400">
                <a:solidFill>
                  <a:srgbClr val="FFFFFF"/>
                </a:solidFill>
              </a:defRPr>
            </a:pPr>
            <a:r>
              <a:t>🟢 0  🟡 0  🔴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Portfolio Overview</a:t>
            </a:r>
          </a:p>
        </p:txBody>
      </p:sp>
      <p:sp>
        <p:nvSpPr>
          <p:cNvPr id="3" name="Rectangle 2"/>
          <p:cNvSpPr/>
          <p:nvPr/>
        </p:nvSpPr>
        <p:spPr>
          <a:xfrm>
            <a:off x="457200" y="1645920"/>
            <a:ext cx="5029200" cy="13716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400" b="1"/>
            </a:pPr>
            <a:r>
              <a:t>● Project B UniSan</a:t>
            </a:r>
          </a:p>
          <a:p>
            <a:pPr>
              <a:defRPr sz="1100"/>
            </a:pPr>
            <a:r>
              <a:t>  Red | 44.0% | Training Phase I</a:t>
            </a:r>
          </a:p>
          <a:p>
            <a:pPr>
              <a:defRPr sz="1000"/>
            </a:pPr>
            <a:r>
              <a:t>  ⚠ 2 missed, 0 at risk: </a:t>
            </a:r>
          </a:p>
        </p:txBody>
      </p:sp>
      <p:sp>
        <p:nvSpPr>
          <p:cNvPr id="4" name="Rectangle 3"/>
          <p:cNvSpPr/>
          <p:nvPr/>
        </p:nvSpPr>
        <p:spPr>
          <a:xfrm>
            <a:off x="6400800" y="1645920"/>
            <a:ext cx="5029200" cy="13716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400" b="1"/>
            </a:pPr>
            <a:r>
              <a:t>● S2P Project Titan</a:t>
            </a:r>
          </a:p>
          <a:p>
            <a:pPr>
              <a:defRPr sz="1100"/>
            </a:pPr>
            <a:r>
              <a:t>  Red | 71.0% | Configuration and Build phase</a:t>
            </a:r>
          </a:p>
          <a:p>
            <a:pPr>
              <a:defRPr sz="1000"/>
            </a:pPr>
            <a:r>
              <a:t>  ⚠ Critical path avg 48.3d behind (max: 81d on 'Phase 2 - P2P')</a:t>
            </a:r>
          </a:p>
        </p:txBody>
      </p:sp>
      <p:sp>
        <p:nvSpPr>
          <p:cNvPr id="5" name="TextBox 4"/>
          <p:cNvSpPr txBox="1"/>
          <p:nvPr/>
        </p:nvSpPr>
        <p:spPr>
          <a:xfrm>
            <a:off x="457200" y="5029200"/>
            <a:ext cx="10972800" cy="1371600"/>
          </a:xfrm>
          <a:prstGeom prst="rect">
            <a:avLst/>
          </a:prstGeom>
          <a:noFill/>
        </p:spPr>
        <p:txBody>
          <a:bodyPr wrap="square">
            <a:spAutoFit/>
          </a:bodyPr>
          <a:lstStyle/>
          <a:p>
            <a:pPr>
              <a:defRPr sz="1100"/>
            </a:pPr>
            <a:r>
              <a:t>Our portfolio currently consists of two projects, both marked Red, indicating significant challenges. Overall, the portfolio health reflects 2 Green, 1 Amber, and 5 Red dimension statuses across active projects. The primary trajectory is a struggle with external dependencies and critical schedule slippage, particularly on Project Titan. Immediate intervention is required to prevent further delays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Cross-Project Trends</a:t>
            </a:r>
          </a:p>
        </p:txBody>
      </p:sp>
      <p:sp>
        <p:nvSpPr>
          <p:cNvPr id="3" name="TextBox 2"/>
          <p:cNvSpPr txBox="1"/>
          <p:nvPr/>
        </p:nvSpPr>
        <p:spPr>
          <a:xfrm>
            <a:off x="457200" y="1371600"/>
            <a:ext cx="10972800" cy="5029200"/>
          </a:xfrm>
          <a:prstGeom prst="rect">
            <a:avLst/>
          </a:prstGeom>
          <a:noFill/>
        </p:spPr>
        <p:txBody>
          <a:bodyPr wrap="square">
            <a:spAutoFit/>
          </a:bodyPr>
          <a:lstStyle/>
          <a:p>
            <a:pPr>
              <a:defRPr sz="1200"/>
            </a:pPr>
            <a:r>
              <a:t>A critical pattern emerging across both projects is the consistent delay driven by external dependencies, specifically client-provided data. Both Project B UniSan and S2P Project Titan are experiencing significant roadblocks due to the lack of timely external input. While internal team blockers are minimal, the client's capacity to provide master data, bulk upload data, and workflow details is proving to be the primary bottleneck. This trend directly impacts our ability to maintain schedule and progress through key phases.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Risk Heat Map</a:t>
            </a:r>
          </a:p>
        </p:txBody>
      </p:sp>
      <p:graphicFrame>
        <p:nvGraphicFramePr>
          <p:cNvPr id="3" name="Table 2"/>
          <p:cNvGraphicFramePr>
            <a:graphicFrameLocks noGrp="1"/>
          </p:cNvGraphicFramePr>
          <p:nvPr/>
        </p:nvGraphicFramePr>
        <p:xfrm>
          <a:off x="457200" y="1371600"/>
          <a:ext cx="10972800" cy="210312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701040">
                <a:tc>
                  <a:txBody>
                    <a:bodyPr/>
                    <a:lstStyle/>
                    <a:p>
                      <a:pPr>
                        <a:defRPr b="1" sz="1000"/>
                      </a:pPr>
                      <a:r>
                        <a:t>Project</a:t>
                      </a:r>
                    </a:p>
                  </a:txBody>
                  <a:tcPr/>
                </a:tc>
                <a:tc>
                  <a:txBody>
                    <a:bodyPr/>
                    <a:lstStyle/>
                    <a:p>
                      <a:pPr>
                        <a:defRPr b="1" sz="1000"/>
                      </a:pPr>
                      <a:r>
                        <a:t>Schedule</a:t>
                      </a:r>
                    </a:p>
                  </a:txBody>
                  <a:tcPr/>
                </a:tc>
                <a:tc>
                  <a:txBody>
                    <a:bodyPr/>
                    <a:lstStyle/>
                    <a:p>
                      <a:pPr>
                        <a:defRPr b="1" sz="1000"/>
                      </a:pPr>
                      <a:r>
                        <a:t>Milestones</a:t>
                      </a:r>
                    </a:p>
                  </a:txBody>
                  <a:tcPr/>
                </a:tc>
                <a:tc>
                  <a:txBody>
                    <a:bodyPr/>
                    <a:lstStyle/>
                    <a:p>
                      <a:pPr>
                        <a:defRPr b="1" sz="1000"/>
                      </a:pPr>
                      <a:r>
                        <a:t>Blockers</a:t>
                      </a:r>
                    </a:p>
                  </a:txBody>
                  <a:tcPr/>
                </a:tc>
                <a:tc>
                  <a:txBody>
                    <a:bodyPr/>
                    <a:lstStyle/>
                    <a:p>
                      <a:pPr>
                        <a:defRPr b="1" sz="1000"/>
                      </a:pPr>
                      <a:r>
                        <a:t>Dependencies</a:t>
                      </a:r>
                    </a:p>
                  </a:txBody>
                  <a:tcPr/>
                </a:tc>
              </a:tr>
              <a:tr h="701040">
                <a:tc>
                  <a:txBody>
                    <a:bodyPr/>
                    <a:lstStyle/>
                    <a:p>
                      <a:r>
                        <a:t>Project B UniSan</a:t>
                      </a:r>
                    </a:p>
                  </a:txBody>
                  <a:tcPr/>
                </a:tc>
                <a:tc>
                  <a:txBody>
                    <a:bodyPr/>
                    <a:lstStyle/>
                    <a:p>
                      <a:pPr>
                        <a:defRPr sz="1000">
                          <a:solidFill>
                            <a:srgbClr val="FFFFFF"/>
                          </a:solidFill>
                        </a:defRPr>
                      </a:pPr>
                      <a:r>
                        <a:t>Green</a:t>
                      </a:r>
                    </a:p>
                  </a:txBody>
                  <a:tcPr>
                    <a:solidFill>
                      <a:srgbClr val="27AE60"/>
                    </a:solidFill>
                  </a:tcPr>
                </a:tc>
                <a:tc>
                  <a:txBody>
                    <a:bodyPr/>
                    <a:lstStyle/>
                    <a:p>
                      <a:pPr>
                        <a:defRPr sz="1000">
                          <a:solidFill>
                            <a:srgbClr val="FFFFFF"/>
                          </a:solidFill>
                        </a:defRPr>
                      </a:pPr>
                      <a:r>
                        <a:t>Red</a:t>
                      </a:r>
                    </a:p>
                  </a:txBody>
                  <a:tcPr>
                    <a:solidFill>
                      <a:srgbClr val="E74C3C"/>
                    </a:solidFill>
                  </a:tcPr>
                </a:tc>
                <a:tc>
                  <a:txBody>
                    <a:bodyPr/>
                    <a:lstStyle/>
                    <a:p>
                      <a:pPr>
                        <a:defRPr sz="1000">
                          <a:solidFill>
                            <a:srgbClr val="FFFFFF"/>
                          </a:solidFill>
                        </a:defRPr>
                      </a:pPr>
                      <a:r>
                        <a:t>Amber</a:t>
                      </a:r>
                    </a:p>
                  </a:txBody>
                  <a:tcPr>
                    <a:solidFill>
                      <a:srgbClr val="F39C12"/>
                    </a:solidFill>
                  </a:tcPr>
                </a:tc>
                <a:tc>
                  <a:txBody>
                    <a:bodyPr/>
                    <a:lstStyle/>
                    <a:p>
                      <a:pPr>
                        <a:defRPr sz="1000">
                          <a:solidFill>
                            <a:srgbClr val="FFFFFF"/>
                          </a:solidFill>
                        </a:defRPr>
                      </a:pPr>
                      <a:r>
                        <a:t>Red</a:t>
                      </a:r>
                    </a:p>
                  </a:txBody>
                  <a:tcPr>
                    <a:solidFill>
                      <a:srgbClr val="E74C3C"/>
                    </a:solidFill>
                  </a:tcPr>
                </a:tc>
              </a:tr>
              <a:tr h="701040">
                <a:tc>
                  <a:txBody>
                    <a:bodyPr/>
                    <a:lstStyle/>
                    <a:p>
                      <a:r>
                        <a:t>S2P Project Titan</a:t>
                      </a:r>
                    </a:p>
                  </a:txBody>
                  <a:tcPr/>
                </a:tc>
                <a:tc>
                  <a:txBody>
                    <a:bodyPr/>
                    <a:lstStyle/>
                    <a:p>
                      <a:pPr>
                        <a:defRPr sz="1000">
                          <a:solidFill>
                            <a:srgbClr val="FFFFFF"/>
                          </a:solidFill>
                        </a:defRPr>
                      </a:pPr>
                      <a:r>
                        <a:t>Red</a:t>
                      </a:r>
                    </a:p>
                  </a:txBody>
                  <a:tcPr>
                    <a:solidFill>
                      <a:srgbClr val="E74C3C"/>
                    </a:solidFill>
                  </a:tcPr>
                </a:tc>
                <a:tc>
                  <a:txBody>
                    <a:bodyPr/>
                    <a:lstStyle/>
                    <a:p>
                      <a:pPr>
                        <a:defRPr sz="1000">
                          <a:solidFill>
                            <a:srgbClr val="FFFFFF"/>
                          </a:solidFill>
                        </a:defRPr>
                      </a:pPr>
                      <a:r>
                        <a:t>Green</a:t>
                      </a:r>
                    </a:p>
                  </a:txBody>
                  <a:tcPr>
                    <a:solidFill>
                      <a:srgbClr val="27AE60"/>
                    </a:solidFill>
                  </a:tcPr>
                </a:tc>
                <a:tc>
                  <a:txBody>
                    <a:bodyPr/>
                    <a:lstStyle/>
                    <a:p>
                      <a:pPr>
                        <a:defRPr sz="1000">
                          <a:solidFill>
                            <a:srgbClr val="FFFFFF"/>
                          </a:solidFill>
                        </a:defRPr>
                      </a:pPr>
                      <a:r>
                        <a:t>Green</a:t>
                      </a:r>
                    </a:p>
                  </a:txBody>
                  <a:tcPr>
                    <a:solidFill>
                      <a:srgbClr val="27AE60"/>
                    </a:solidFill>
                  </a:tcPr>
                </a:tc>
                <a:tc>
                  <a:txBody>
                    <a:bodyPr/>
                    <a:lstStyle/>
                    <a:p>
                      <a:pPr>
                        <a:defRPr sz="1000">
                          <a:solidFill>
                            <a:srgbClr val="FFFFFF"/>
                          </a:solidFill>
                        </a:defRPr>
                      </a:pPr>
                      <a:r>
                        <a:t>Red</a:t>
                      </a:r>
                    </a:p>
                  </a:txBody>
                  <a:tcPr>
                    <a:solidFill>
                      <a:srgbClr val="E74C3C"/>
                    </a:solidFill>
                  </a:tcPr>
                </a:tc>
              </a:tr>
            </a:tbl>
          </a:graphicData>
        </a:graphic>
      </p:graphicFrame>
      <p:sp>
        <p:nvSpPr>
          <p:cNvPr id="4" name="TextBox 3"/>
          <p:cNvSpPr txBox="1"/>
          <p:nvPr/>
        </p:nvSpPr>
        <p:spPr>
          <a:xfrm>
            <a:off x="457200" y="3931920"/>
            <a:ext cx="10972800" cy="2743200"/>
          </a:xfrm>
          <a:prstGeom prst="rect">
            <a:avLst/>
          </a:prstGeom>
          <a:noFill/>
        </p:spPr>
        <p:txBody>
          <a:bodyPr wrap="square">
            <a:spAutoFit/>
          </a:bodyPr>
          <a:lstStyle/>
          <a:p>
            <a:pPr>
              <a:defRPr sz="1100"/>
            </a:pPr>
            <a:r>
              <a:t>The most pressing risk is the **high likelihood and high impact** of continued external data delays, specifically UniSan's bulk upload data and OTK's master data for Titan. These are foundational requirements, directly blocking critical path activities. There is also a **high likelihood and high impact** of significant schedule overruns for S2P Project Titan, given it's already 48 days behind on average. Finally, **medium likelihood and high impact** risk includes UniSan missing further mileston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Top Blockers &amp; Dependencies</a:t>
            </a:r>
          </a:p>
        </p:txBody>
      </p:sp>
      <p:sp>
        <p:nvSpPr>
          <p:cNvPr id="3" name="TextBox 2"/>
          <p:cNvSpPr txBox="1"/>
          <p:nvPr/>
        </p:nvSpPr>
        <p:spPr>
          <a:xfrm>
            <a:off x="457200" y="1371600"/>
            <a:ext cx="10972800" cy="5029200"/>
          </a:xfrm>
          <a:prstGeom prst="rect">
            <a:avLst/>
          </a:prstGeom>
          <a:noFill/>
        </p:spPr>
        <p:txBody>
          <a:bodyPr wrap="square">
            <a:spAutoFit/>
          </a:bodyPr>
          <a:lstStyle/>
          <a:p>
            <a:pPr>
              <a:defRPr sz="1200"/>
            </a:pPr>
            <a:r>
              <a:t>1.  **UniSan Bulk Upload Data (UniSan Team):** UniSan's delay in providing updated bulk upload data is blocking the critical Zycus upload to staging and subsequent client review, leading to two missed milestones in Training Phase I. This delay directly impacts the timeline for production migration.</a:t>
            </a:r>
          </a:p>
          <a:p>
            <a:pPr>
              <a:defRPr sz="1200"/>
            </a:pPr>
            <a:r>
              <a:t>2.  **OTK Master Data Provision (OTK Team):** The lack of master data from the OTK team for S2P Project Titan is causing severe schedule slippage, with the "Phase 2 - P2P" segment now 81 days behind. This is a fundamental blocker for the entire Configuration and Build phase.</a:t>
            </a:r>
          </a:p>
          <a:p>
            <a:pPr>
              <a:defRPr sz="1200"/>
            </a:pPr>
            <a:r>
              <a:t>3.  **OTK Workflow &amp; CULT Table Details (OTK Team):** Following the master data, the delay in receiving workflow and CULT table details from OTK is a cascading dependency for S2P Project Titan's configuration, further compounding overall project delays.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Delivery Forecast &amp; Recommendations</a:t>
            </a:r>
          </a:p>
        </p:txBody>
      </p:sp>
      <p:sp>
        <p:nvSpPr>
          <p:cNvPr id="3" name="TextBox 2"/>
          <p:cNvSpPr txBox="1"/>
          <p:nvPr/>
        </p:nvSpPr>
        <p:spPr>
          <a:xfrm>
            <a:off x="457200" y="1371600"/>
            <a:ext cx="10972800" cy="5029200"/>
          </a:xfrm>
          <a:prstGeom prst="rect">
            <a:avLst/>
          </a:prstGeom>
          <a:noFill/>
        </p:spPr>
        <p:txBody>
          <a:bodyPr wrap="square">
            <a:spAutoFit/>
          </a:bodyPr>
          <a:lstStyle/>
          <a:p>
            <a:pPr>
              <a:defRPr sz="1200"/>
            </a:pPr>
            <a:r>
              <a:t>Project B UniSan is currently operating with minimal schedule slippage but has missed two milestones and faces significant external dependencies. Without immediate resolution of the bulk upload data, we anticipate a 2-4 week delay to its October 9th deadline. S2P Project Titan is in a more critical state, with an average 48.3-day delay on its critical path. It is highly unlikely to meet its December 7th deadline and is forecasted to slip by at least 2-3 months if external dependencies are not resolved immediately.</a:t>
            </a:r>
          </a:p>
          <a:p>
            <a:pPr>
              <a:defRPr sz="1200"/>
            </a:pPr>
          </a:p>
          <a:p>
            <a:pPr>
              <a:defRPr sz="1200"/>
            </a:pPr>
            <a:r>
              <a:t>1.  **Escalate UniSan Data Delivery:** Engage UniSan leadership directly to secure a firm commitment and timeline for the updated bulk upload data. This is blocking a critical chain of tasks impacting Training Phase I.</a:t>
            </a:r>
          </a:p>
          <a:p>
            <a:pPr>
              <a:defRPr sz="1200"/>
            </a:pPr>
            <a:r>
              <a:t>2.  **VP-Level Engagement with OTK:** Initiate a direct conversation with OTK leadership to resolve the outstanding master data and workflow details for S2P Project Titan. These are non-negotiable for project progression and are causing severe delays.</a:t>
            </a:r>
          </a:p>
          <a:p>
            <a:pPr>
              <a:defRPr sz="1200"/>
            </a:pPr>
            <a:r>
              <a:t>3.  **Proactive Dependency Management:** Implement a rigorous, weekly review and escalation process for all client-dependent tasks across the portfolio. Assign clear owners and deadlines to prevent future recurrence of these widespread delays.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none">
            <a:spAutoFit/>
          </a:bodyPr>
          <a:lstStyle/>
          <a:p>
            <a:pPr>
              <a:defRPr sz="2400" b="1">
                <a:solidFill>
                  <a:srgbClr val="2C3E50"/>
                </a:solidFill>
              </a:defRPr>
            </a:pPr>
            <a:r>
              <a:t>Next Month Outlook</a:t>
            </a:r>
          </a:p>
        </p:txBody>
      </p:sp>
      <p:sp>
        <p:nvSpPr>
          <p:cNvPr id="3" name="TextBox 2"/>
          <p:cNvSpPr txBox="1"/>
          <p:nvPr/>
        </p:nvSpPr>
        <p:spPr>
          <a:xfrm>
            <a:off x="457200" y="1371600"/>
            <a:ext cx="10972800" cy="5029200"/>
          </a:xfrm>
          <a:prstGeom prst="rect">
            <a:avLst/>
          </a:prstGeom>
          <a:noFill/>
        </p:spPr>
        <p:txBody>
          <a:bodyPr wrap="square">
            <a:spAutoFit/>
          </a:bodyPr>
          <a:lstStyle/>
          <a:p>
            <a:pPr>
              <a:defRPr sz="1200"/>
            </a:pPr>
            <a:r>
              <a:t>Over the next 30 days, we must see significant movement on the critical external data dependencies for both projects. For Project B UniSan, look for the successful bulk upload and initial client review of data to move Training Phase I forward. For S2P Project Titan, the key indicator will be the provision of master data from OTK, enabling progress in the Configuration and Build phase. Failure to resolve these will exacerbate current delays and necessitate re-baselining both project timelines.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